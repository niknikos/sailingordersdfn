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400675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1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84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4182" y="156"/>
      </p:cViewPr>
      <p:guideLst>
        <p:guide orient="horz" pos="2268"/>
        <p:guide pos="1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178222"/>
            <a:ext cx="4590574" cy="250642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781306"/>
            <a:ext cx="4050506" cy="1738167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9332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1199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794831"/>
            <a:ext cx="4658082" cy="2994714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4817876"/>
            <a:ext cx="4658082" cy="1574849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18246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916484"/>
            <a:ext cx="2295287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916484"/>
            <a:ext cx="2295287" cy="456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6277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83299"/>
            <a:ext cx="4658082" cy="1391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764832"/>
            <a:ext cx="2284738" cy="864917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629749"/>
            <a:ext cx="2284738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764832"/>
            <a:ext cx="2295990" cy="864917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629749"/>
            <a:ext cx="2295990" cy="3867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07522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97983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15330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79954"/>
            <a:ext cx="1741858" cy="1679840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1036570"/>
            <a:ext cx="2734092" cy="5116178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159794"/>
            <a:ext cx="1741858" cy="4001285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8024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479954"/>
            <a:ext cx="1741858" cy="1679840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1036570"/>
            <a:ext cx="2734092" cy="5116178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159794"/>
            <a:ext cx="1741858" cy="4001285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68806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4357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383297"/>
            <a:ext cx="1164521" cy="61010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383297"/>
            <a:ext cx="3426053" cy="61010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9413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383299"/>
            <a:ext cx="4658082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916484"/>
            <a:ext cx="4658082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6672698"/>
            <a:ext cx="1215152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54015-A75A-4F9C-8FD1-6C02F3E98E5C}" type="datetimeFigureOut">
              <a:rPr lang="el-GR" smtClean="0"/>
              <a:t>10/2/2022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6672698"/>
            <a:ext cx="182272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6672698"/>
            <a:ext cx="1215152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E7590-B40F-4748-B751-EBB86AFFAEC2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51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11">
            <a:extLst>
              <a:ext uri="{FF2B5EF4-FFF2-40B4-BE49-F238E27FC236}">
                <a16:creationId xmlns:a16="http://schemas.microsoft.com/office/drawing/2014/main" id="{3241D3D7-BA40-4EEF-B6F9-B3B9F754C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754" y="1646373"/>
            <a:ext cx="2082403" cy="314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Sort sample according to species</a:t>
            </a:r>
            <a:endParaRPr lang="en-US" altLang="el-GR" sz="337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Record total weight &amp; total number per species</a:t>
            </a:r>
            <a:endParaRPr lang="en-US" altLang="el-GR" sz="1014">
              <a:latin typeface="Arial" panose="020B0604020202020204" pitchFamily="34" charset="0"/>
            </a:endParaRPr>
          </a:p>
        </p:txBody>
      </p:sp>
      <p:sp>
        <p:nvSpPr>
          <p:cNvPr id="35" name="Text Box 1858232838">
            <a:extLst>
              <a:ext uri="{FF2B5EF4-FFF2-40B4-BE49-F238E27FC236}">
                <a16:creationId xmlns:a16="http://schemas.microsoft.com/office/drawing/2014/main" id="{192A343A-9F51-49F4-AAF9-F704CF135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858" y="3506980"/>
            <a:ext cx="1067991" cy="45362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Rare/unknown species</a:t>
            </a:r>
            <a:endParaRPr lang="en-US" altLang="el-GR" sz="337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Photograph/freeze</a:t>
            </a:r>
            <a:endParaRPr lang="en-US" altLang="el-GR" sz="1014">
              <a:latin typeface="Arial" panose="020B0604020202020204" pitchFamily="34" charset="0"/>
            </a:endParaRPr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0714E55C-B2D2-4020-87E8-C806D2A32130}"/>
              </a:ext>
            </a:extLst>
          </p:cNvPr>
          <p:cNvSpPr/>
          <p:nvPr/>
        </p:nvSpPr>
        <p:spPr>
          <a:xfrm>
            <a:off x="2747168" y="2064246"/>
            <a:ext cx="128588" cy="13465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37" name="Text Box 2">
            <a:extLst>
              <a:ext uri="{FF2B5EF4-FFF2-40B4-BE49-F238E27FC236}">
                <a16:creationId xmlns:a16="http://schemas.microsoft.com/office/drawing/2014/main" id="{09C9F389-6DB4-4CDE-B94F-5CB1716AE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536" y="778909"/>
            <a:ext cx="3157538" cy="32504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Trawl catch</a:t>
            </a:r>
            <a:endParaRPr lang="en-US" altLang="el-GR" sz="337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Record total catch weight. Take total catch or subsample</a:t>
            </a:r>
            <a:endParaRPr lang="en-US" altLang="el-GR" sz="1014">
              <a:latin typeface="Arial" panose="020B0604020202020204" pitchFamily="34" charset="0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2F335209-5596-4951-A288-4C665348E47F}"/>
              </a:ext>
            </a:extLst>
          </p:cNvPr>
          <p:cNvSpPr/>
          <p:nvPr/>
        </p:nvSpPr>
        <p:spPr>
          <a:xfrm>
            <a:off x="1597022" y="1218554"/>
            <a:ext cx="128588" cy="3036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40" name="Text Box 42">
            <a:extLst>
              <a:ext uri="{FF2B5EF4-FFF2-40B4-BE49-F238E27FC236}">
                <a16:creationId xmlns:a16="http://schemas.microsoft.com/office/drawing/2014/main" id="{A0D3FFAB-EF0E-46DB-847D-27BE097E5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538" y="2477300"/>
            <a:ext cx="1114425" cy="48934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Priority species</a:t>
            </a:r>
            <a:endParaRPr lang="en-US" altLang="el-GR" sz="337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Length/weight 100 ind</a:t>
            </a:r>
            <a:endParaRPr lang="en-US" altLang="el-GR" sz="337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Sex/maturity 30 ind (see list for biological)</a:t>
            </a:r>
            <a:endParaRPr lang="en-US" altLang="el-GR" sz="1014">
              <a:latin typeface="Arial" panose="020B0604020202020204" pitchFamily="34" charset="0"/>
            </a:endParaRP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6FEF930A-635B-4A30-810E-2CE9AC957977}"/>
              </a:ext>
            </a:extLst>
          </p:cNvPr>
          <p:cNvSpPr/>
          <p:nvPr/>
        </p:nvSpPr>
        <p:spPr>
          <a:xfrm>
            <a:off x="2165040" y="2087329"/>
            <a:ext cx="128586" cy="10202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42" name="Text Box 1858232833">
            <a:extLst>
              <a:ext uri="{FF2B5EF4-FFF2-40B4-BE49-F238E27FC236}">
                <a16:creationId xmlns:a16="http://schemas.microsoft.com/office/drawing/2014/main" id="{0BC7E624-731E-46EA-9B8F-DB7390D67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404" y="3235518"/>
            <a:ext cx="696516" cy="72509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All non-priority species</a:t>
            </a:r>
            <a:endParaRPr lang="en-US" altLang="el-GR" sz="337" dirty="0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Length/weight 30 </a:t>
            </a:r>
            <a:r>
              <a:rPr lang="en-US" altLang="el-GR" sz="675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ind</a:t>
            </a:r>
            <a:endParaRPr lang="en-US" altLang="el-GR" sz="337" dirty="0"/>
          </a:p>
          <a:p>
            <a:pPr defTabSz="51437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l-GR" sz="1014" dirty="0">
              <a:latin typeface="Arial" panose="020B0604020202020204" pitchFamily="34" charset="0"/>
            </a:endParaRPr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59035003-3E6E-44D3-97F4-C9C07F07B655}"/>
              </a:ext>
            </a:extLst>
          </p:cNvPr>
          <p:cNvSpPr/>
          <p:nvPr/>
        </p:nvSpPr>
        <p:spPr>
          <a:xfrm>
            <a:off x="1368423" y="2085464"/>
            <a:ext cx="128588" cy="3036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44" name="Text Box 52">
            <a:extLst>
              <a:ext uri="{FF2B5EF4-FFF2-40B4-BE49-F238E27FC236}">
                <a16:creationId xmlns:a16="http://schemas.microsoft.com/office/drawing/2014/main" id="{A9613BC9-12BC-4754-8F62-2FA9E5617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106" y="4054073"/>
            <a:ext cx="1114425" cy="30718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Genetics*</a:t>
            </a:r>
            <a:endParaRPr lang="en-US" altLang="el-GR" sz="337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Pectoral finclip 50 ind total</a:t>
            </a:r>
            <a:endParaRPr lang="en-US" altLang="el-GR" sz="1014">
              <a:latin typeface="Arial" panose="020B0604020202020204" pitchFamily="34" charset="0"/>
            </a:endParaRPr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7D602642-8E83-4C5F-856B-ADB31BA3C44F}"/>
              </a:ext>
            </a:extLst>
          </p:cNvPr>
          <p:cNvSpPr/>
          <p:nvPr/>
        </p:nvSpPr>
        <p:spPr>
          <a:xfrm>
            <a:off x="1437625" y="4407542"/>
            <a:ext cx="128588" cy="3036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46" name="Text Box 50">
            <a:extLst>
              <a:ext uri="{FF2B5EF4-FFF2-40B4-BE49-F238E27FC236}">
                <a16:creationId xmlns:a16="http://schemas.microsoft.com/office/drawing/2014/main" id="{7FF76FBF-06D1-490C-9E66-FBA6E85FE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537" y="4833490"/>
            <a:ext cx="1978819" cy="32146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Food safety^</a:t>
            </a:r>
            <a:endParaRPr lang="en-US" altLang="el-GR" sz="337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25 ind per station/3 stations total</a:t>
            </a:r>
            <a:endParaRPr lang="en-US" altLang="el-GR" sz="1014">
              <a:latin typeface="Arial" panose="020B0604020202020204" pitchFamily="34" charset="0"/>
            </a:endParaRP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F13C4F14-3673-4D5F-9A67-43C018DC3593}"/>
              </a:ext>
            </a:extLst>
          </p:cNvPr>
          <p:cNvSpPr/>
          <p:nvPr/>
        </p:nvSpPr>
        <p:spPr>
          <a:xfrm>
            <a:off x="1419526" y="3054873"/>
            <a:ext cx="126869" cy="9152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218C5C63-013F-4FC5-BA69-484AC37CB8B3}"/>
              </a:ext>
            </a:extLst>
          </p:cNvPr>
          <p:cNvSpPr/>
          <p:nvPr/>
        </p:nvSpPr>
        <p:spPr>
          <a:xfrm>
            <a:off x="962227" y="3052763"/>
            <a:ext cx="141876" cy="16583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8AE2C506-6616-4B54-A889-B59303EB6698}"/>
              </a:ext>
            </a:extLst>
          </p:cNvPr>
          <p:cNvSpPr/>
          <p:nvPr/>
        </p:nvSpPr>
        <p:spPr>
          <a:xfrm>
            <a:off x="3515120" y="1219446"/>
            <a:ext cx="128588" cy="3036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51435" tIns="25719" rIns="51435" bIns="2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l-GR" sz="1014"/>
          </a:p>
        </p:txBody>
      </p:sp>
      <p:sp>
        <p:nvSpPr>
          <p:cNvPr id="50" name="Text Box 9">
            <a:extLst>
              <a:ext uri="{FF2B5EF4-FFF2-40B4-BE49-F238E27FC236}">
                <a16:creationId xmlns:a16="http://schemas.microsoft.com/office/drawing/2014/main" id="{75DB6D38-EABB-4331-B903-D1BEB1C1C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537" y="5213147"/>
            <a:ext cx="3431801" cy="1758058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90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Biological</a:t>
            </a:r>
            <a:endParaRPr lang="en-GB" altLang="el-GR" sz="337"/>
          </a:p>
          <a:p>
            <a:pPr defTabSz="514371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l-GR" sz="1014">
              <a:latin typeface="Arial" panose="020B0604020202020204" pitchFamily="34" charset="0"/>
            </a:endParaRPr>
          </a:p>
        </p:txBody>
      </p:sp>
      <p:sp>
        <p:nvSpPr>
          <p:cNvPr id="52" name="Text Box 47">
            <a:extLst>
              <a:ext uri="{FF2B5EF4-FFF2-40B4-BE49-F238E27FC236}">
                <a16:creationId xmlns:a16="http://schemas.microsoft.com/office/drawing/2014/main" id="{478216B5-3849-4ACE-9AAF-3F8AD595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802" y="1643623"/>
            <a:ext cx="1032272" cy="41076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51435" tIns="25719" rIns="51435" bIns="25719" numCol="1" anchor="t" anchorCtr="0" compatLnSpc="1">
            <a:prstTxWarp prst="textNoShape">
              <a:avLst/>
            </a:prstTxWarp>
          </a:bodyPr>
          <a:lstStyle/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90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Vulnerable species</a:t>
            </a:r>
            <a:endParaRPr lang="en-US" altLang="el-GR" sz="337" dirty="0"/>
          </a:p>
          <a:p>
            <a:pPr algn="ctr"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l-GR" sz="675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Measure/photo/release</a:t>
            </a:r>
            <a:endParaRPr lang="en-US" altLang="el-GR" sz="337" dirty="0"/>
          </a:p>
          <a:p>
            <a:pPr defTabSz="51437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l-GR" sz="1014" dirty="0">
              <a:latin typeface="Arial" panose="020B0604020202020204" pitchFamily="34" charset="0"/>
            </a:endParaRPr>
          </a:p>
        </p:txBody>
      </p:sp>
      <p:sp>
        <p:nvSpPr>
          <p:cNvPr id="54" name="Rectangle 60">
            <a:extLst>
              <a:ext uri="{FF2B5EF4-FFF2-40B4-BE49-F238E27FC236}">
                <a16:creationId xmlns:a16="http://schemas.microsoft.com/office/drawing/2014/main" id="{1E1530DB-6EE2-4F96-AB4E-395BCF046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519" y="228293"/>
            <a:ext cx="1557799" cy="554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9" rIns="51435" bIns="25719" numCol="1" anchor="ctr" anchorCtr="0" compatLnSpc="1">
            <a:prstTxWarp prst="textNoShape">
              <a:avLst/>
            </a:prstTxWarp>
            <a:spAutoFit/>
          </a:bodyPr>
          <a:lstStyle/>
          <a:p>
            <a:pPr defTabSz="514371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altLang="el-GR" sz="1125" dirty="0">
              <a:latin typeface="Calibri Light" panose="020F0302020204030204" pitchFamily="34" charset="0"/>
              <a:ea typeface="Times New Roman" panose="02020603050405020304" pitchFamily="18" charset="0"/>
              <a:cs typeface="Calibri Light" panose="020F0302020204030204" pitchFamily="34" charset="0"/>
            </a:endParaRPr>
          </a:p>
          <a:p>
            <a:pPr defTabSz="51437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l-GR" sz="1125" dirty="0">
                <a:latin typeface="Calibri Light" panose="020F0302020204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Catch sampling workflow</a:t>
            </a:r>
            <a:endParaRPr lang="el-GR" altLang="el-GR" sz="337" dirty="0"/>
          </a:p>
          <a:p>
            <a:pPr defTabSz="514371" eaLnBrk="0" fontAlgn="base" hangingPunct="0">
              <a:spcBef>
                <a:spcPct val="0"/>
              </a:spcBef>
              <a:spcAft>
                <a:spcPct val="0"/>
              </a:spcAft>
            </a:pPr>
            <a:endParaRPr lang="el-GR" altLang="el-GR" sz="1014" dirty="0">
              <a:latin typeface="Arial" panose="020B0604020202020204" pitchFamily="34" charset="0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5D7C8488-5F2D-48A8-8470-FE12C90C0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018323"/>
              </p:ext>
            </p:extLst>
          </p:nvPr>
        </p:nvGraphicFramePr>
        <p:xfrm>
          <a:off x="962227" y="5448679"/>
          <a:ext cx="3114846" cy="12391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7423">
                  <a:extLst>
                    <a:ext uri="{9D8B030D-6E8A-4147-A177-3AD203B41FA5}">
                      <a16:colId xmlns:a16="http://schemas.microsoft.com/office/drawing/2014/main" val="2569081813"/>
                    </a:ext>
                  </a:extLst>
                </a:gridCol>
                <a:gridCol w="1557423">
                  <a:extLst>
                    <a:ext uri="{9D8B030D-6E8A-4147-A177-3AD203B41FA5}">
                      <a16:colId xmlns:a16="http://schemas.microsoft.com/office/drawing/2014/main" val="1448597730"/>
                    </a:ext>
                  </a:extLst>
                </a:gridCol>
              </a:tblGrid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fr-FR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en-GB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035689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fr-FR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polli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215193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Merluccius</a:t>
                      </a:r>
                      <a:r>
                        <a:rPr lang="fr-FR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senegalensis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575621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Pagellus</a:t>
                      </a:r>
                      <a:r>
                        <a:rPr lang="fr-FR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bellotti</a:t>
                      </a:r>
                      <a:r>
                        <a:rPr lang="en-GB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 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723628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Pagellus</a:t>
                      </a:r>
                      <a:r>
                        <a:rPr lang="fr-FR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 acarne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674350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fr-FR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Dentex </a:t>
                      </a:r>
                      <a:r>
                        <a:rPr lang="fr-FR" sz="800" b="0" i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macrocephalus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983769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it-IT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Parapeneaus longirostris (sex only) Aristeus varidens (sex only) 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684897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pPr fontAlgn="base"/>
                      <a:r>
                        <a:rPr lang="it-IT" sz="800" b="0" i="1" dirty="0">
                          <a:solidFill>
                            <a:sysClr val="windowText" lastClr="000000"/>
                          </a:solidFill>
                          <a:effectLst/>
                        </a:rPr>
                        <a:t>+ opther priority species</a:t>
                      </a:r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fontAlgn="base"/>
                      <a:endParaRPr lang="el-GR" sz="800" b="0" i="1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6768"/>
                  </a:ext>
                </a:extLst>
              </a:tr>
              <a:tr h="124416">
                <a:tc>
                  <a:txBody>
                    <a:bodyPr/>
                    <a:lstStyle/>
                    <a:p>
                      <a:endParaRPr lang="el-GR" sz="800" i="1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endParaRPr lang="el-GR" sz="800" i="1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622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363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115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Nikolioudakis, Nikolaos</dc:creator>
  <cp:lastModifiedBy>Nikolioudakis, Nikolaos</cp:lastModifiedBy>
  <cp:revision>3</cp:revision>
  <dcterms:created xsi:type="dcterms:W3CDTF">2022-02-09T08:33:54Z</dcterms:created>
  <dcterms:modified xsi:type="dcterms:W3CDTF">2022-02-10T10:57:03Z</dcterms:modified>
</cp:coreProperties>
</file>