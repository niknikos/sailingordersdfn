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2.xml" ContentType="application/vnd.openxmlformats-officedocument.customXmlProperties+xml"/>
  <Override PartName="/customXml/itemProps1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sldIdLst>
    <p:sldId id="256" r:id="rId2"/>
  </p:sldIdLst>
  <p:sldSz cx="5759450" cy="8999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7" userDrawn="1">
          <p15:clr>
            <a:srgbClr val="A4A3A4"/>
          </p15:clr>
        </p15:guide>
        <p15:guide id="2" pos="18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84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3492" y="84"/>
      </p:cViewPr>
      <p:guideLst>
        <p:guide orient="horz" pos="2837"/>
        <p:guide pos="18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2.xml"/><Relationship Id="rId3" Type="http://schemas.openxmlformats.org/officeDocument/2006/relationships/presProps" Target="presProps.xml"/><Relationship Id="rId7" Type="http://schemas.openxmlformats.org/officeDocument/2006/relationships/customXml" Target="../customXml/item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Relationship Id="rId9" Type="http://schemas.openxmlformats.org/officeDocument/2006/relationships/customXml" Target="../customXml/item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959" y="1472842"/>
            <a:ext cx="4895533" cy="3133172"/>
          </a:xfrm>
        </p:spPr>
        <p:txBody>
          <a:bodyPr anchor="b"/>
          <a:lstStyle>
            <a:lvl1pPr algn="ctr">
              <a:defRPr sz="377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931" y="4726842"/>
            <a:ext cx="4319588" cy="2172804"/>
          </a:xfrm>
        </p:spPr>
        <p:txBody>
          <a:bodyPr/>
          <a:lstStyle>
            <a:lvl1pPr marL="0" indent="0" algn="ctr">
              <a:buNone/>
              <a:defRPr sz="1512"/>
            </a:lvl1pPr>
            <a:lvl2pPr marL="287990" indent="0" algn="ctr">
              <a:buNone/>
              <a:defRPr sz="1260"/>
            </a:lvl2pPr>
            <a:lvl3pPr marL="575981" indent="0" algn="ctr">
              <a:buNone/>
              <a:defRPr sz="1134"/>
            </a:lvl3pPr>
            <a:lvl4pPr marL="863971" indent="0" algn="ctr">
              <a:buNone/>
              <a:defRPr sz="1008"/>
            </a:lvl4pPr>
            <a:lvl5pPr marL="1151961" indent="0" algn="ctr">
              <a:buNone/>
              <a:defRPr sz="1008"/>
            </a:lvl5pPr>
            <a:lvl6pPr marL="1439951" indent="0" algn="ctr">
              <a:buNone/>
              <a:defRPr sz="1008"/>
            </a:lvl6pPr>
            <a:lvl7pPr marL="1727942" indent="0" algn="ctr">
              <a:buNone/>
              <a:defRPr sz="1008"/>
            </a:lvl7pPr>
            <a:lvl8pPr marL="2015932" indent="0" algn="ctr">
              <a:buNone/>
              <a:defRPr sz="1008"/>
            </a:lvl8pPr>
            <a:lvl9pPr marL="2303922" indent="0" algn="ctr">
              <a:buNone/>
              <a:defRPr sz="100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376731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628444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963" y="2243638"/>
            <a:ext cx="4967526" cy="3743557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963" y="6022610"/>
            <a:ext cx="4967526" cy="1968648"/>
          </a:xfrm>
        </p:spPr>
        <p:txBody>
          <a:bodyPr/>
          <a:lstStyle>
            <a:lvl1pPr marL="0" indent="0">
              <a:buNone/>
              <a:defRPr sz="1512">
                <a:solidFill>
                  <a:schemeClr val="tx1"/>
                </a:solidFill>
              </a:defRPr>
            </a:lvl1pPr>
            <a:lvl2pPr marL="28799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2pPr>
            <a:lvl3pPr marL="575981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3pPr>
            <a:lvl4pPr marL="86397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4pPr>
            <a:lvl5pPr marL="115196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5pPr>
            <a:lvl6pPr marL="143995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6pPr>
            <a:lvl7pPr marL="172794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7pPr>
            <a:lvl8pPr marL="201593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8pPr>
            <a:lvl9pPr marL="230392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030751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5962" y="2395710"/>
            <a:ext cx="2447766" cy="57101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15722" y="2395710"/>
            <a:ext cx="2447766" cy="57101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053754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2" y="479144"/>
            <a:ext cx="4967526" cy="17394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6713" y="2206137"/>
            <a:ext cx="2436517" cy="1081194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6713" y="3287331"/>
            <a:ext cx="2436517" cy="48351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5722" y="2206137"/>
            <a:ext cx="2448516" cy="1081194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915722" y="3287331"/>
            <a:ext cx="2448516" cy="48351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490591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4187740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457462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2" y="599969"/>
            <a:ext cx="1857573" cy="2099892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48516" y="1295769"/>
            <a:ext cx="2915722" cy="6395505"/>
          </a:xfrm>
        </p:spPr>
        <p:txBody>
          <a:bodyPr/>
          <a:lstStyle>
            <a:lvl1pPr>
              <a:defRPr sz="2016"/>
            </a:lvl1pPr>
            <a:lvl2pPr>
              <a:defRPr sz="1764"/>
            </a:lvl2pPr>
            <a:lvl3pPr>
              <a:defRPr sz="1512"/>
            </a:lvl3pPr>
            <a:lvl4pPr>
              <a:defRPr sz="1260"/>
            </a:lvl4pPr>
            <a:lvl5pPr>
              <a:defRPr sz="1260"/>
            </a:lvl5pPr>
            <a:lvl6pPr>
              <a:defRPr sz="1260"/>
            </a:lvl6pPr>
            <a:lvl7pPr>
              <a:defRPr sz="1260"/>
            </a:lvl7pPr>
            <a:lvl8pPr>
              <a:defRPr sz="1260"/>
            </a:lvl8pPr>
            <a:lvl9pPr>
              <a:defRPr sz="12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6712" y="2699862"/>
            <a:ext cx="1857573" cy="5001827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82084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2" y="599969"/>
            <a:ext cx="1857573" cy="2099892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448516" y="1295769"/>
            <a:ext cx="2915722" cy="6395505"/>
          </a:xfrm>
        </p:spPr>
        <p:txBody>
          <a:bodyPr anchor="t"/>
          <a:lstStyle>
            <a:lvl1pPr marL="0" indent="0">
              <a:buNone/>
              <a:defRPr sz="2016"/>
            </a:lvl1pPr>
            <a:lvl2pPr marL="287990" indent="0">
              <a:buNone/>
              <a:defRPr sz="1764"/>
            </a:lvl2pPr>
            <a:lvl3pPr marL="575981" indent="0">
              <a:buNone/>
              <a:defRPr sz="1512"/>
            </a:lvl3pPr>
            <a:lvl4pPr marL="863971" indent="0">
              <a:buNone/>
              <a:defRPr sz="1260"/>
            </a:lvl4pPr>
            <a:lvl5pPr marL="1151961" indent="0">
              <a:buNone/>
              <a:defRPr sz="1260"/>
            </a:lvl5pPr>
            <a:lvl6pPr marL="1439951" indent="0">
              <a:buNone/>
              <a:defRPr sz="1260"/>
            </a:lvl6pPr>
            <a:lvl7pPr marL="1727942" indent="0">
              <a:buNone/>
              <a:defRPr sz="1260"/>
            </a:lvl7pPr>
            <a:lvl8pPr marL="2015932" indent="0">
              <a:buNone/>
              <a:defRPr sz="1260"/>
            </a:lvl8pPr>
            <a:lvl9pPr marL="2303922" indent="0">
              <a:buNone/>
              <a:defRPr sz="126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6712" y="2699862"/>
            <a:ext cx="1857573" cy="5001827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240659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650468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121607" y="479142"/>
            <a:ext cx="1241881" cy="762669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95963" y="479142"/>
            <a:ext cx="3653651" cy="762669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316325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5962" y="479144"/>
            <a:ext cx="4967526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5962" y="2395710"/>
            <a:ext cx="4967526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95962" y="8341240"/>
            <a:ext cx="1295876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07818" y="8341240"/>
            <a:ext cx="1943814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l-G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067612" y="8341240"/>
            <a:ext cx="1295876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372585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l" defTabSz="575981" rtl="0" eaLnBrk="1" latinLnBrk="0" hangingPunct="1">
        <a:lnSpc>
          <a:spcPct val="90000"/>
        </a:lnSpc>
        <a:spcBef>
          <a:spcPct val="0"/>
        </a:spcBef>
        <a:buNone/>
        <a:defRPr sz="27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3995" indent="-143995" algn="l" defTabSz="575981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31985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1997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100796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29595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58394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87193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15992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44791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1pPr>
      <a:lvl2pPr marL="28799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7598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3pPr>
      <a:lvl4pPr marL="86397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15196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43995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72794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01593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30392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Box 11">
            <a:extLst>
              <a:ext uri="{FF2B5EF4-FFF2-40B4-BE49-F238E27FC236}">
                <a16:creationId xmlns:a16="http://schemas.microsoft.com/office/drawing/2014/main" id="{3241D3D7-BA40-4EEF-B6F9-B3B9F754CD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5006" y="2285911"/>
            <a:ext cx="2360209" cy="356258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102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Sort sample according to species</a:t>
            </a:r>
            <a:endParaRPr lang="en-US" altLang="el-GR" sz="382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Record total weight &amp; total number per species</a:t>
            </a:r>
            <a:endParaRPr lang="en-US" altLang="el-GR" sz="1149">
              <a:latin typeface="Arial" panose="020B0604020202020204" pitchFamily="34" charset="0"/>
            </a:endParaRPr>
          </a:p>
        </p:txBody>
      </p:sp>
      <p:sp>
        <p:nvSpPr>
          <p:cNvPr id="35" name="Text Box 1858232838">
            <a:extLst>
              <a:ext uri="{FF2B5EF4-FFF2-40B4-BE49-F238E27FC236}">
                <a16:creationId xmlns:a16="http://schemas.microsoft.com/office/drawing/2014/main" id="{192A343A-9F51-49F4-AAF9-F704CF1352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4381" y="4394736"/>
            <a:ext cx="1210468" cy="514145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102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Rare/unknown species</a:t>
            </a:r>
            <a:endParaRPr lang="en-US" altLang="el-GR" sz="382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Photograph/freeze</a:t>
            </a:r>
            <a:endParaRPr lang="en-US" altLang="el-GR" sz="1149">
              <a:latin typeface="Arial" panose="020B0604020202020204" pitchFamily="34" charset="0"/>
            </a:endParaRPr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0714E55C-B2D2-4020-87E8-C806D2A32130}"/>
              </a:ext>
            </a:extLst>
          </p:cNvPr>
          <p:cNvSpPr/>
          <p:nvPr/>
        </p:nvSpPr>
        <p:spPr>
          <a:xfrm>
            <a:off x="2932805" y="2759528"/>
            <a:ext cx="145742" cy="152624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58297" tIns="29149" rIns="58297" bIns="291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l-GR" sz="1149"/>
          </a:p>
        </p:txBody>
      </p:sp>
      <p:sp>
        <p:nvSpPr>
          <p:cNvPr id="37" name="Text Box 2">
            <a:extLst>
              <a:ext uri="{FF2B5EF4-FFF2-40B4-BE49-F238E27FC236}">
                <a16:creationId xmlns:a16="http://schemas.microsoft.com/office/drawing/2014/main" id="{09C9F389-6DB4-4CDE-B94F-5CB1716AE9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1356" y="1302724"/>
            <a:ext cx="3578775" cy="368403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102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Trawl catch</a:t>
            </a:r>
            <a:endParaRPr lang="en-US" altLang="el-GR" sz="382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Record total catch weight. Take total catch or subsample</a:t>
            </a:r>
            <a:endParaRPr lang="en-US" altLang="el-GR" sz="1149">
              <a:latin typeface="Arial" panose="020B0604020202020204" pitchFamily="34" charset="0"/>
            </a:endParaRPr>
          </a:p>
        </p:txBody>
      </p:sp>
      <p:sp>
        <p:nvSpPr>
          <p:cNvPr id="38" name="Arrow: Down 37">
            <a:extLst>
              <a:ext uri="{FF2B5EF4-FFF2-40B4-BE49-F238E27FC236}">
                <a16:creationId xmlns:a16="http://schemas.microsoft.com/office/drawing/2014/main" id="{2F335209-5596-4951-A288-4C665348E47F}"/>
              </a:ext>
            </a:extLst>
          </p:cNvPr>
          <p:cNvSpPr/>
          <p:nvPr/>
        </p:nvSpPr>
        <p:spPr>
          <a:xfrm>
            <a:off x="1629220" y="1801015"/>
            <a:ext cx="145742" cy="34411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58297" tIns="29149" rIns="58297" bIns="291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l-GR" sz="1149"/>
          </a:p>
        </p:txBody>
      </p:sp>
      <p:sp>
        <p:nvSpPr>
          <p:cNvPr id="40" name="Text Box 42">
            <a:extLst>
              <a:ext uri="{FF2B5EF4-FFF2-40B4-BE49-F238E27FC236}">
                <a16:creationId xmlns:a16="http://schemas.microsoft.com/office/drawing/2014/main" id="{A0D3FFAB-EF0E-46DB-847D-27BE097E54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1363" y="3227687"/>
            <a:ext cx="1263097" cy="554628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102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Priority species</a:t>
            </a:r>
            <a:endParaRPr lang="en-US" altLang="el-GR" sz="382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Length/weight 100 ind</a:t>
            </a:r>
            <a:endParaRPr lang="en-US" altLang="el-GR" sz="382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Sex/maturity 30 ind (see list for biological)</a:t>
            </a:r>
            <a:endParaRPr lang="en-US" altLang="el-GR" sz="1149">
              <a:latin typeface="Arial" panose="020B0604020202020204" pitchFamily="34" charset="0"/>
            </a:endParaRPr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6FEF930A-635B-4A30-810E-2CE9AC957977}"/>
              </a:ext>
            </a:extLst>
          </p:cNvPr>
          <p:cNvSpPr/>
          <p:nvPr/>
        </p:nvSpPr>
        <p:spPr>
          <a:xfrm>
            <a:off x="2273017" y="2785688"/>
            <a:ext cx="145740" cy="115630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58297" tIns="29149" rIns="58297" bIns="291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l-GR" sz="1149"/>
          </a:p>
        </p:txBody>
      </p:sp>
      <p:sp>
        <p:nvSpPr>
          <p:cNvPr id="42" name="Text Box 1858232833">
            <a:extLst>
              <a:ext uri="{FF2B5EF4-FFF2-40B4-BE49-F238E27FC236}">
                <a16:creationId xmlns:a16="http://schemas.microsoft.com/office/drawing/2014/main" id="{0BC7E624-731E-46EA-9B8F-DB7390D67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70" y="4087056"/>
            <a:ext cx="789436" cy="82182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102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All non-priority species</a:t>
            </a:r>
            <a:endParaRPr lang="en-US" altLang="el-GR" sz="382" dirty="0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Length/weight 30 </a:t>
            </a:r>
            <a:r>
              <a:rPr lang="en-US" altLang="el-GR" sz="766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ind</a:t>
            </a:r>
            <a:endParaRPr lang="en-US" altLang="el-GR" sz="382" dirty="0"/>
          </a:p>
          <a:p>
            <a:pPr defTabSz="582962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l-GR" sz="1149" dirty="0">
              <a:latin typeface="Arial" panose="020B0604020202020204" pitchFamily="34" charset="0"/>
            </a:endParaRPr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59035003-3E6E-44D3-97F4-C9C07F07B655}"/>
              </a:ext>
            </a:extLst>
          </p:cNvPr>
          <p:cNvSpPr/>
          <p:nvPr/>
        </p:nvSpPr>
        <p:spPr>
          <a:xfrm>
            <a:off x="1370126" y="2783577"/>
            <a:ext cx="145742" cy="34411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58297" tIns="29149" rIns="58297" bIns="291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l-GR" sz="1149"/>
          </a:p>
        </p:txBody>
      </p:sp>
      <p:sp>
        <p:nvSpPr>
          <p:cNvPr id="44" name="Text Box 52">
            <a:extLst>
              <a:ext uri="{FF2B5EF4-FFF2-40B4-BE49-F238E27FC236}">
                <a16:creationId xmlns:a16="http://schemas.microsoft.com/office/drawing/2014/main" id="{A9613BC9-12BC-4754-8F62-2FA9E5617A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0554" y="5014817"/>
            <a:ext cx="1263097" cy="348161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102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Genetics*</a:t>
            </a:r>
            <a:endParaRPr lang="en-US" altLang="el-GR" sz="382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Pectoral finclip 50 ind total</a:t>
            </a:r>
            <a:endParaRPr lang="en-US" altLang="el-GR" sz="1149">
              <a:latin typeface="Arial" panose="020B0604020202020204" pitchFamily="34" charset="0"/>
            </a:endParaRPr>
          </a:p>
        </p:txBody>
      </p:sp>
      <p:sp>
        <p:nvSpPr>
          <p:cNvPr id="45" name="Arrow: Down 44">
            <a:extLst>
              <a:ext uri="{FF2B5EF4-FFF2-40B4-BE49-F238E27FC236}">
                <a16:creationId xmlns:a16="http://schemas.microsoft.com/office/drawing/2014/main" id="{7D602642-8E83-4C5F-856B-ADB31BA3C44F}"/>
              </a:ext>
            </a:extLst>
          </p:cNvPr>
          <p:cNvSpPr/>
          <p:nvPr/>
        </p:nvSpPr>
        <p:spPr>
          <a:xfrm>
            <a:off x="1448560" y="5415437"/>
            <a:ext cx="145742" cy="34411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58297" tIns="29149" rIns="58297" bIns="291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l-GR" sz="1149"/>
          </a:p>
        </p:txBody>
      </p:sp>
      <p:sp>
        <p:nvSpPr>
          <p:cNvPr id="46" name="Text Box 50">
            <a:extLst>
              <a:ext uri="{FF2B5EF4-FFF2-40B4-BE49-F238E27FC236}">
                <a16:creationId xmlns:a16="http://schemas.microsoft.com/office/drawing/2014/main" id="{7FF76FBF-06D1-490C-9E66-FBA6E85FE3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1360" y="5898212"/>
            <a:ext cx="2242807" cy="364355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102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Food safety^</a:t>
            </a:r>
            <a:endParaRPr lang="en-US" altLang="el-GR" sz="382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25 ind per station/3 stations total</a:t>
            </a:r>
            <a:endParaRPr lang="en-US" altLang="el-GR" sz="1149">
              <a:latin typeface="Arial" panose="020B0604020202020204" pitchFamily="34" charset="0"/>
            </a:endParaRPr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F13C4F14-3673-4D5F-9A67-43C018DC3593}"/>
              </a:ext>
            </a:extLst>
          </p:cNvPr>
          <p:cNvSpPr/>
          <p:nvPr/>
        </p:nvSpPr>
        <p:spPr>
          <a:xfrm>
            <a:off x="1428051" y="3882312"/>
            <a:ext cx="143794" cy="103736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58297" tIns="29149" rIns="58297" bIns="291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l-GR" sz="1149"/>
          </a:p>
        </p:txBody>
      </p:sp>
      <p:sp>
        <p:nvSpPr>
          <p:cNvPr id="48" name="Arrow: Down 47">
            <a:extLst>
              <a:ext uri="{FF2B5EF4-FFF2-40B4-BE49-F238E27FC236}">
                <a16:creationId xmlns:a16="http://schemas.microsoft.com/office/drawing/2014/main" id="{218C5C63-013F-4FC5-BA69-484AC37CB8B3}"/>
              </a:ext>
            </a:extLst>
          </p:cNvPr>
          <p:cNvSpPr/>
          <p:nvPr/>
        </p:nvSpPr>
        <p:spPr>
          <a:xfrm>
            <a:off x="909741" y="3879922"/>
            <a:ext cx="160803" cy="187963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58297" tIns="29149" rIns="58297" bIns="291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l-GR" sz="1149"/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8AE2C506-6616-4B54-A889-B59303EB6698}"/>
              </a:ext>
            </a:extLst>
          </p:cNvPr>
          <p:cNvSpPr/>
          <p:nvPr/>
        </p:nvSpPr>
        <p:spPr>
          <a:xfrm>
            <a:off x="3803207" y="1802026"/>
            <a:ext cx="145742" cy="34411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58297" tIns="29149" rIns="58297" bIns="291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l-GR" sz="1149"/>
          </a:p>
        </p:txBody>
      </p:sp>
      <p:sp>
        <p:nvSpPr>
          <p:cNvPr id="50" name="Text Box 9">
            <a:extLst>
              <a:ext uri="{FF2B5EF4-FFF2-40B4-BE49-F238E27FC236}">
                <a16:creationId xmlns:a16="http://schemas.microsoft.com/office/drawing/2014/main" id="{75DB6D38-EABB-4331-B903-D1BEB1C1CE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1360" y="6328516"/>
            <a:ext cx="3889626" cy="1992595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l-GR" sz="102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Biological</a:t>
            </a:r>
            <a:endParaRPr lang="en-GB" altLang="el-GR" sz="382"/>
          </a:p>
          <a:p>
            <a:pPr defTabSz="582962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altLang="el-GR" sz="1149">
              <a:latin typeface="Arial" panose="020B0604020202020204" pitchFamily="34" charset="0"/>
            </a:endParaRPr>
          </a:p>
        </p:txBody>
      </p:sp>
      <p:sp>
        <p:nvSpPr>
          <p:cNvPr id="52" name="Text Box 47">
            <a:extLst>
              <a:ext uri="{FF2B5EF4-FFF2-40B4-BE49-F238E27FC236}">
                <a16:creationId xmlns:a16="http://schemas.microsoft.com/office/drawing/2014/main" id="{478216B5-3849-4ACE-9AAF-3F8AD59500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0147" y="2282793"/>
            <a:ext cx="1169984" cy="46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102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Vulnerable species</a:t>
            </a:r>
            <a:endParaRPr lang="en-US" altLang="el-GR" sz="382" dirty="0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Measure/photo/release</a:t>
            </a:r>
            <a:endParaRPr lang="en-US" altLang="el-GR" sz="382" dirty="0"/>
          </a:p>
          <a:p>
            <a:pPr defTabSz="582962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l-GR" sz="1149" dirty="0">
              <a:latin typeface="Arial" panose="020B0604020202020204" pitchFamily="34" charset="0"/>
            </a:endParaRPr>
          </a:p>
        </p:txBody>
      </p:sp>
      <p:sp>
        <p:nvSpPr>
          <p:cNvPr id="54" name="Rectangle 60">
            <a:extLst>
              <a:ext uri="{FF2B5EF4-FFF2-40B4-BE49-F238E27FC236}">
                <a16:creationId xmlns:a16="http://schemas.microsoft.com/office/drawing/2014/main" id="{1E1530DB-6EE2-4F96-AB4E-395BCF046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937" y="678683"/>
            <a:ext cx="1759657" cy="6281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58297" tIns="29149" rIns="58297" bIns="29149" numCol="1" anchor="ctr" anchorCtr="0" compatLnSpc="1">
            <a:prstTxWarp prst="textNoShape">
              <a:avLst/>
            </a:prstTxWarp>
            <a:spAutoFit/>
          </a:bodyPr>
          <a:lstStyle/>
          <a:p>
            <a:pPr defTabSz="582962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altLang="el-GR" sz="1275" dirty="0">
              <a:latin typeface="Calibri Light" panose="020F0302020204030204" pitchFamily="34" charset="0"/>
              <a:ea typeface="Times New Roman" panose="02020603050405020304" pitchFamily="18" charset="0"/>
              <a:cs typeface="Calibri Light" panose="020F0302020204030204" pitchFamily="34" charset="0"/>
            </a:endParaRPr>
          </a:p>
          <a:p>
            <a:pPr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l-GR" sz="1275" dirty="0">
                <a:latin typeface="Calibri Light" panose="020F0302020204030204" pitchFamily="34" charset="0"/>
                <a:ea typeface="Times New Roman" panose="02020603050405020304" pitchFamily="18" charset="0"/>
                <a:cs typeface="Calibri Light" panose="020F0302020204030204" pitchFamily="34" charset="0"/>
              </a:rPr>
              <a:t>Catch sampling workflow</a:t>
            </a:r>
            <a:endParaRPr lang="el-GR" altLang="el-GR" sz="382" dirty="0"/>
          </a:p>
          <a:p>
            <a:pPr defTabSz="582962" eaLnBrk="0" fontAlgn="base" hangingPunct="0">
              <a:spcBef>
                <a:spcPct val="0"/>
              </a:spcBef>
              <a:spcAft>
                <a:spcPct val="0"/>
              </a:spcAft>
            </a:pPr>
            <a:endParaRPr lang="el-GR" altLang="el-GR" sz="1149" dirty="0">
              <a:latin typeface="Arial" panose="020B0604020202020204" pitchFamily="34" charset="0"/>
            </a:endParaRPr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5D7C8488-5F2D-48A8-8470-FE12C90C0C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6018323"/>
              </p:ext>
            </p:extLst>
          </p:nvPr>
        </p:nvGraphicFramePr>
        <p:xfrm>
          <a:off x="909739" y="6595464"/>
          <a:ext cx="3530388" cy="140448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65194">
                  <a:extLst>
                    <a:ext uri="{9D8B030D-6E8A-4147-A177-3AD203B41FA5}">
                      <a16:colId xmlns:a16="http://schemas.microsoft.com/office/drawing/2014/main" val="2569081813"/>
                    </a:ext>
                  </a:extLst>
                </a:gridCol>
                <a:gridCol w="1765194">
                  <a:extLst>
                    <a:ext uri="{9D8B030D-6E8A-4147-A177-3AD203B41FA5}">
                      <a16:colId xmlns:a16="http://schemas.microsoft.com/office/drawing/2014/main" val="1448597730"/>
                    </a:ext>
                  </a:extLst>
                </a:gridCol>
              </a:tblGrid>
              <a:tr h="141014">
                <a:tc>
                  <a:txBody>
                    <a:bodyPr/>
                    <a:lstStyle/>
                    <a:p>
                      <a:pPr fontAlgn="base"/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Merluccius</a:t>
                      </a:r>
                      <a:r>
                        <a:rPr lang="fr-FR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 </a:t>
                      </a:r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merluccius</a:t>
                      </a:r>
                      <a:r>
                        <a:rPr lang="en-GB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 </a:t>
                      </a:r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fontAlgn="base"/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035689"/>
                  </a:ext>
                </a:extLst>
              </a:tr>
              <a:tr h="141014">
                <a:tc>
                  <a:txBody>
                    <a:bodyPr/>
                    <a:lstStyle/>
                    <a:p>
                      <a:pPr fontAlgn="base"/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Merluccius</a:t>
                      </a:r>
                      <a:r>
                        <a:rPr lang="fr-FR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 </a:t>
                      </a:r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polli</a:t>
                      </a:r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fontAlgn="base"/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3215193"/>
                  </a:ext>
                </a:extLst>
              </a:tr>
              <a:tr h="141014">
                <a:tc>
                  <a:txBody>
                    <a:bodyPr/>
                    <a:lstStyle/>
                    <a:p>
                      <a:pPr fontAlgn="base"/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Merluccius</a:t>
                      </a:r>
                      <a:r>
                        <a:rPr lang="fr-FR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 senegalensis</a:t>
                      </a:r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fontAlgn="base"/>
                      <a:endParaRPr lang="el-GR" sz="900" b="0" i="1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575621"/>
                  </a:ext>
                </a:extLst>
              </a:tr>
              <a:tr h="141014">
                <a:tc>
                  <a:txBody>
                    <a:bodyPr/>
                    <a:lstStyle/>
                    <a:p>
                      <a:pPr fontAlgn="base"/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Pagellus</a:t>
                      </a:r>
                      <a:r>
                        <a:rPr lang="fr-FR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 </a:t>
                      </a:r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bellotti</a:t>
                      </a:r>
                      <a:r>
                        <a:rPr lang="en-GB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 </a:t>
                      </a:r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fontAlgn="base"/>
                      <a:endParaRPr lang="el-GR" sz="900" b="0" i="1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3723628"/>
                  </a:ext>
                </a:extLst>
              </a:tr>
              <a:tr h="141014">
                <a:tc>
                  <a:txBody>
                    <a:bodyPr/>
                    <a:lstStyle/>
                    <a:p>
                      <a:pPr fontAlgn="base"/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Pagellus</a:t>
                      </a:r>
                      <a:r>
                        <a:rPr lang="fr-FR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 acarne</a:t>
                      </a:r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fontAlgn="base"/>
                      <a:endParaRPr lang="el-GR" sz="900" b="0" i="1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0674350"/>
                  </a:ext>
                </a:extLst>
              </a:tr>
              <a:tr h="141014">
                <a:tc>
                  <a:txBody>
                    <a:bodyPr/>
                    <a:lstStyle/>
                    <a:p>
                      <a:pPr fontAlgn="base"/>
                      <a:r>
                        <a:rPr lang="fr-FR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Dentex </a:t>
                      </a:r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macrocephalus</a:t>
                      </a:r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fontAlgn="base"/>
                      <a:endParaRPr lang="el-GR" sz="900" b="0" i="1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983769"/>
                  </a:ext>
                </a:extLst>
              </a:tr>
              <a:tr h="276370">
                <a:tc>
                  <a:txBody>
                    <a:bodyPr/>
                    <a:lstStyle/>
                    <a:p>
                      <a:pPr fontAlgn="base"/>
                      <a:r>
                        <a:rPr lang="it-IT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Parapeneaus longirostris (sex only) Aristeus varidens (sex only) </a:t>
                      </a:r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fontAlgn="base"/>
                      <a:endParaRPr lang="el-GR" sz="900" b="0" i="1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684897"/>
                  </a:ext>
                </a:extLst>
              </a:tr>
              <a:tr h="141014">
                <a:tc>
                  <a:txBody>
                    <a:bodyPr/>
                    <a:lstStyle/>
                    <a:p>
                      <a:pPr fontAlgn="base"/>
                      <a:r>
                        <a:rPr lang="it-IT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+ opther priority species</a:t>
                      </a:r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fontAlgn="base"/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5176768"/>
                  </a:ext>
                </a:extLst>
              </a:tr>
              <a:tr h="141014">
                <a:tc>
                  <a:txBody>
                    <a:bodyPr/>
                    <a:lstStyle/>
                    <a:p>
                      <a:endParaRPr lang="el-GR" sz="900" i="1" dirty="0">
                        <a:solidFill>
                          <a:sysClr val="windowText" lastClr="000000"/>
                        </a:solidFill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endParaRPr lang="el-GR" sz="900" i="1" dirty="0">
                        <a:solidFill>
                          <a:sysClr val="windowText" lastClr="000000"/>
                        </a:solidFill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6226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2363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79A833CF10F444BBAB252802BF889FD" ma:contentTypeVersion="13" ma:contentTypeDescription="Create a new document." ma:contentTypeScope="" ma:versionID="64f677fd2253f5247049a9cf21871e2a">
  <xsd:schema xmlns:xsd="http://www.w3.org/2001/XMLSchema" xmlns:xs="http://www.w3.org/2001/XMLSchema" xmlns:p="http://schemas.microsoft.com/office/2006/metadata/properties" xmlns:ns2="c01e712b-8f9b-4625-8219-31b20605feb3" xmlns:ns3="2b166a80-dccc-42cc-be33-87bca7e0d87c" targetNamespace="http://schemas.microsoft.com/office/2006/metadata/properties" ma:root="true" ma:fieldsID="2fddc4c226a27c0868f3cab2348c32e7" ns2:_="" ns3:_="">
    <xsd:import namespace="c01e712b-8f9b-4625-8219-31b20605feb3"/>
    <xsd:import namespace="2b166a80-dccc-42cc-be33-87bca7e0d87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1e712b-8f9b-4625-8219-31b20605feb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Length (seconds)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166a80-dccc-42cc-be33-87bca7e0d87c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97905F4-3D47-463F-9DA1-CA6D37FC938C}"/>
</file>

<file path=customXml/itemProps2.xml><?xml version="1.0" encoding="utf-8"?>
<ds:datastoreItem xmlns:ds="http://schemas.openxmlformats.org/officeDocument/2006/customXml" ds:itemID="{EF8CF7F2-AF22-46EE-89BD-3147FAB5A9CC}"/>
</file>

<file path=customXml/itemProps3.xml><?xml version="1.0" encoding="utf-8"?>
<ds:datastoreItem xmlns:ds="http://schemas.openxmlformats.org/officeDocument/2006/customXml" ds:itemID="{BC7EDAC7-547A-4BBF-9B74-E65552FEE379}"/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</TotalTime>
  <Words>115</Words>
  <Application>Microsoft Office PowerPoint</Application>
  <PresentationFormat>Custom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Nikolioudakis, Nikolaos</dc:creator>
  <cp:lastModifiedBy>Nikolioudakis, Nikolaos</cp:lastModifiedBy>
  <cp:revision>5</cp:revision>
  <dcterms:created xsi:type="dcterms:W3CDTF">2022-02-09T08:33:54Z</dcterms:created>
  <dcterms:modified xsi:type="dcterms:W3CDTF">2022-04-18T11:20:19Z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0x010100B79A833CF10F444BBAB252802BF889FD</vt:lpwstr>
  </property>
</Properties>
</file>